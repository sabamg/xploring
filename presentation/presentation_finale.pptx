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Accroche : un gestionnaire de voirie a un budget limité et des milliers de carrefours. On lui dit lesquels rénover, quoi y installer, et ce que ça devrait rapporter.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le choix du rôle rend le projet actionnable, vs analyses génériques (« la pluie est dangereuse ») qui n'aident aucun décideur.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qu'on connaît les limites AVANT de montrer des résultats : crédibilité. Biais de reporting = collecte via API trafic MapQuest/Bing.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slide méthodo. Question attendue : « pourquoi un prédicteur si vous ne prédisez pas ? » -&gt; 1) tâche évaluable, 2) contrôle des confondants, 3) la convergence entre méthodes devient une preuve.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Mentionner les tests : assertions bloquantes dans le notebook (intégrité + anti-fuite) + suite pytest sur le livrable +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Charge = somme des sévérités = volume pondéré gravité. 100 accidents légers ≠ 100 graves. H3 : cellules équi-surface, rés. 8 = échelle d'un carrefour.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attendue « pourquoi H3 ? » : cellules équi-surface (comptage = densité comparable), voisinage hexagonal régulier, rés. 8 ≈ carrefour.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Performance modeste ASSUMÉE : la gravité dépend de facteurs absents (vitesse réelle, alcool). Notre critère de succès = fiabilité de l'explication, pas la perf brute - c'est mot pour mot dans le sujet. Pourquoi pas SMOTE : class_weight, on ne fabrique pas de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clé : une moyenne brute « avec/sans feux » dirait l'INVERSE (les feux sont là où c'est dense). Les effets ajustés renversent la lecture - c'est LA démonstration de l'utilité du modèle. SHAP en annexe : requête d'intervention (g-comp) ≠ requête d'attribution (SHAP).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attendue « c'est causal ? » : NON - associations ajustées. L'impact est ex-ante, il sert à PRIORISER. Mesure réelle = pilote + différence de différences (slide 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Hypothèse brouillard : conduite plus prudente - on le dit comme hypothèse, pas comme fait. La valeur différenciante = contredire le common knowledge avec des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ici que la valeur devient palpable : une ligne du CSV = une décision de travaux argumentée. La carte : couleur = aménagement recommandé, taille = risque réel par 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les limites nous-mêmes = crédibilité. La grille valorise explicitement « deuils énoncés ». Diff-in-diff : zones traitées vs témoins comparables, avant/après travaux.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Finir sur « que fait le DOT lundi matin » et ouvrir sur le pilote terrain.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delta brut est TROMPEUR (confondants) - c'est exactement ce que les effets ajustés corrigent. Bon exemple pédagogique si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 seuil 0,5 : 44 % des graves ratés. Abaisser le seuil ↑ rappel au prix de fausses alertes - arbitrage documenté par la courbe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 = requête d'attribution (corrélations du réel), g-computation = requête d'intervention. Les signes peuvent différer - documenté dans le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583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FFFFFF"/>
                </a:solidFill>
                <a:latin typeface="Calibri"/>
              </a:rPr>
              <a:t>Réduire les accidents par la </a:t>
            </a:r>
            <a:r>
              <a:rPr sz="3600" b="1">
                <a:solidFill>
                  <a:srgbClr val="FFD166"/>
                </a:solidFill>
                <a:latin typeface="Calibri"/>
              </a:rPr>
              <a:t>rénovation d'infrastructure</a:t>
            </a:r>
          </a:p>
          <a:p>
            <a:r>
              <a:rPr sz="2000">
                <a:solidFill>
                  <a:srgbClr val="FFFFFF"/>
                </a:solidFill>
                <a:latin typeface="Calibri"/>
              </a:rPr>
              <a:t>
Pipeline d'aide à la décision pour une agence de voirie (DOT)</a:t>
            </a:r>
          </a:p>
          <a:p>
            <a:r>
              <a:rPr sz="1400">
                <a:solidFill>
                  <a:srgbClr val="C9D6E3"/>
                </a:solidFill>
                <a:latin typeface="Calibri"/>
              </a:rPr>
              <a:t>Données US Accidents - 7,73 M accidents , 2016-2023 , 49 États</a:t>
            </a:r>
          </a:p>
          <a:p>
            <a:r>
              <a:rPr sz="1300">
                <a:solidFill>
                  <a:srgbClr val="C9D6E3"/>
                </a:solidFill>
                <a:latin typeface="Calibri"/>
              </a:rPr>
              <a:t>
SAÉ DataValueXploring - juillet 2026</a:t>
            </a:r>
          </a:p>
        </p:txBody>
      </p:sp>
      <p:pic>
        <p:nvPicPr>
          <p:cNvPr id="4" name="Picture 3" descr="00_cart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051560"/>
            <a:ext cx="4206240" cy="30044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416052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F6B"/>
                </a:solidFill>
                <a:latin typeface="Calibri"/>
              </a:rPr>
              <a:t>50 zones prioritaires - Californie (démo)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120640"/>
            <a:ext cx="2514600" cy="1051560"/>
          </a:xfrm>
          <a:prstGeom prst="roundRect">
            <a:avLst/>
          </a:prstGeom>
          <a:solidFill>
            <a:srgbClr val="1F4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D166"/>
                </a:solidFill>
                <a:latin typeface="Calibri"/>
              </a:rPr>
              <a:t>7,73 M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accidents analysés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5120640"/>
            <a:ext cx="2514600" cy="1051560"/>
          </a:xfrm>
          <a:prstGeom prst="roundRect">
            <a:avLst/>
          </a:prstGeom>
          <a:solidFill>
            <a:srgbClr val="1F4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D166"/>
                </a:solidFill>
                <a:latin typeface="Calibri"/>
              </a:rPr>
              <a:t>×62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concentration du risque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120640"/>
            <a:ext cx="2514600" cy="1051560"/>
          </a:xfrm>
          <a:prstGeom prst="roundRect">
            <a:avLst/>
          </a:prstGeom>
          <a:solidFill>
            <a:srgbClr val="1F4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D166"/>
                </a:solidFill>
                <a:latin typeface="Calibri"/>
              </a:rPr>
              <a:t>ρ = 0,78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stabilité temporelle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39" y="5120640"/>
            <a:ext cx="2514600" cy="1051560"/>
          </a:xfrm>
          <a:prstGeom prst="roundRect">
            <a:avLst/>
          </a:prstGeom>
          <a:solidFill>
            <a:srgbClr val="1F4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D166"/>
                </a:solidFill>
                <a:latin typeface="Calibri"/>
              </a:rPr>
              <a:t>6 860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graves évitables (est.)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Le problème métier</a:t>
            </a:r>
          </a:p>
          <a:p>
            <a:r>
              <a:rPr sz="1200">
                <a:solidFill>
                  <a:srgbClr val="C9D6E3"/>
                </a:solidFill>
                <a:latin typeface="Calibri"/>
              </a:rPr>
              <a:t>Rôle incarné : agence de voirie / DOT d'une collectivité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A1A2E"/>
                </a:solidFill>
                <a:latin typeface="Calibri"/>
              </a:rPr>
              <a:t>« Comment réduire durablement les accidents sur notre réseau, avec un </a:t>
            </a:r>
            <a:r>
              <a:rPr sz="2200" b="1">
                <a:solidFill>
                  <a:srgbClr val="C0392B"/>
                </a:solidFill>
                <a:latin typeface="Calibri"/>
              </a:rPr>
              <a:t>budget de travaux limité</a:t>
            </a:r>
            <a:r>
              <a:rPr sz="2200">
                <a:solidFill>
                  <a:srgbClr val="1A1A2E"/>
                </a:solidFill>
                <a:latin typeface="Calibri"/>
              </a:rPr>
              <a:t> ?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Aujourd'hui : priorisation </a:t>
            </a:r>
            <a:r>
              <a:rPr sz="1700" b="1">
                <a:solidFill>
                  <a:srgbClr val="16324F"/>
                </a:solidFill>
                <a:latin typeface="Calibri"/>
              </a:rPr>
              <a:t>réactive</a:t>
            </a:r>
            <a:r>
              <a:rPr sz="1700">
                <a:solidFill>
                  <a:srgbClr val="1A1A2E"/>
                </a:solidFill>
                <a:latin typeface="Calibri"/>
              </a:rPr>
              <a:t> - remontées terrain, accidents médiatisés, arbitrages politiques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Notre apport : une priorisation </a:t>
            </a:r>
            <a:r>
              <a:rPr sz="1700" b="1">
                <a:solidFill>
                  <a:srgbClr val="16324F"/>
                </a:solidFill>
                <a:latin typeface="Calibri"/>
              </a:rPr>
              <a:t>data-driven, explicable et défendable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Périmètre d'action du rôle : </a:t>
            </a:r>
            <a:r>
              <a:rPr sz="1700" b="1">
                <a:solidFill>
                  <a:srgbClr val="16324F"/>
                </a:solidFill>
                <a:latin typeface="Calibri"/>
              </a:rPr>
              <a:t>l'infrastructure</a:t>
            </a:r>
            <a:r>
              <a:rPr sz="1700">
                <a:solidFill>
                  <a:srgbClr val="1A1A2E"/>
                </a:solidFill>
                <a:latin typeface="Calibri"/>
              </a:rPr>
              <a:t> (feux, passages piétons, stops, modération de trafic)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– on n'agit ni sur la météo, ni sur le comportement des conducteurs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69280"/>
            <a:ext cx="10881360" cy="777240"/>
          </a:xfrm>
          <a:prstGeom prst="rect">
            <a:avLst/>
          </a:prstGeom>
          <a:solidFill>
            <a:srgbClr val="EEF3F8"/>
          </a:solidFill>
          <a:ln w="1270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500">
                <a:solidFill>
                  <a:srgbClr val="1A1A2E"/>
                </a:solidFill>
                <a:latin typeface="Calibri"/>
              </a:rPr>
              <a:t>La donnée crée de la valeur quand elle répond à une décision : </a:t>
            </a:r>
            <a:r>
              <a:rPr sz="1500" b="1">
                <a:solidFill>
                  <a:srgbClr val="16324F"/>
                </a:solidFill>
                <a:latin typeface="Calibri"/>
              </a:rPr>
              <a:t>où investir le prochain euro de travaux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Les données - et leurs pièges</a:t>
            </a:r>
          </a:p>
          <a:p>
            <a:r>
              <a:rPr sz="1200">
                <a:solidFill>
                  <a:srgbClr val="C9D6E3"/>
                </a:solidFill>
                <a:latin typeface="Calibri"/>
              </a:rPr>
              <a:t>US Accidents (Kaggle) , Feb 2016 -&gt; Mar 2023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</a:t>
            </a:r>
            <a:r>
              <a:rPr sz="1500" b="1">
                <a:solidFill>
                  <a:srgbClr val="16324F"/>
                </a:solidFill>
                <a:latin typeface="Calibri"/>
              </a:rPr>
              <a:t>7 728 394 accidents</a:t>
            </a:r>
            <a:r>
              <a:rPr sz="1500">
                <a:solidFill>
                  <a:srgbClr val="1A1A2E"/>
                </a:solidFill>
                <a:latin typeface="Calibri"/>
              </a:rPr>
              <a:t>, 46 colonnes, 49 États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Collecte via API trafic -&gt; </a:t>
            </a:r>
            <a:r>
              <a:rPr sz="1500" b="1">
                <a:solidFill>
                  <a:srgbClr val="16324F"/>
                </a:solidFill>
                <a:latin typeface="Calibri"/>
              </a:rPr>
              <a:t>biais de reporting assumé</a:t>
            </a:r>
            <a:r>
              <a:rPr sz="1500">
                <a:solidFill>
                  <a:srgbClr val="1A1A2E"/>
                </a:solidFill>
                <a:latin typeface="Calibri"/>
              </a:rPr>
              <a:t> : peu de lignes ≠ peu d'accidents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Top 3 États ≈ </a:t>
            </a:r>
            <a:r>
              <a:rPr sz="1500" b="1">
                <a:solidFill>
                  <a:srgbClr val="16324F"/>
                </a:solidFill>
                <a:latin typeface="Calibri"/>
              </a:rPr>
              <a:t>41 %</a:t>
            </a:r>
            <a:r>
              <a:rPr sz="1500">
                <a:solidFill>
                  <a:srgbClr val="1A1A2E"/>
                </a:solidFill>
                <a:latin typeface="Calibri"/>
              </a:rPr>
              <a:t> du volume (CA, FL, TX)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Conséquence méthodologique : on ne compare </a:t>
            </a:r>
            <a:r>
              <a:rPr sz="1500" b="1">
                <a:solidFill>
                  <a:srgbClr val="16324F"/>
                </a:solidFill>
                <a:latin typeface="Calibri"/>
              </a:rPr>
              <a:t>jamais</a:t>
            </a:r>
            <a:r>
              <a:rPr sz="1500">
                <a:solidFill>
                  <a:srgbClr val="1A1A2E"/>
                </a:solidFill>
                <a:latin typeface="Calibri"/>
              </a:rPr>
              <a:t> les États entre eux -</a:t>
            </a:r>
          </a:p>
          <a:p>
            <a:pPr lvl="1"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– on raisonne à l'intérieur d'un territoire (analyse paramétrée par une variable STATE)</a:t>
            </a:r>
          </a:p>
        </p:txBody>
      </p:sp>
      <p:pic>
        <p:nvPicPr>
          <p:cNvPr id="4" name="Picture 3" descr="02_a1_couverture_biais_peut-on_faire_confiance_à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5669280" cy="22356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3977639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F6B"/>
                </a:solidFill>
                <a:latin typeface="Calibri"/>
              </a:rPr>
              <a:t>Couverture très inégale : top 15 États par volume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Le cadrage : 3 questions, 3 natures</a:t>
            </a:r>
          </a:p>
          <a:p>
            <a:r>
              <a:rPr sz="1200">
                <a:solidFill>
                  <a:srgbClr val="C9D6E3"/>
                </a:solidFill>
                <a:latin typeface="Calibri"/>
              </a:rPr>
              <a:t>Pas de modèle « par habitude » - la méthode suit la nature de la question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448056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Question métier</a:t>
                      </a:r>
                    </a:p>
                  </a:txBody>
                  <a:tcPr marT="38100" marB="381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marT="38100" marB="381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Méthode</a:t>
                      </a:r>
                    </a:p>
                  </a:txBody>
                  <a:tcPr marT="38100" marB="38100">
                    <a:solidFill>
                      <a:srgbClr val="1632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OÙ rénover en priorité ?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concentration -&gt; descriptif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agrégation H3 + exposition OSM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QUOI installer sur place ?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attribution -&gt; ML (moteur de preuve)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modèle de gravité -&gt; effets ajustés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QUAND agir temporairement ?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conjoncturel -&gt; descriptif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patterns temporels / météo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40080" y="3429000"/>
            <a:ext cx="10881360" cy="914400"/>
          </a:xfrm>
          <a:prstGeom prst="rect">
            <a:avLst/>
          </a:prstGeom>
          <a:solidFill>
            <a:srgbClr val="EEF3F8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500" b="1">
                <a:solidFill>
                  <a:srgbClr val="C0392B"/>
                </a:solidFill>
                <a:latin typeface="Calibri"/>
              </a:rPr>
              <a:t>La prédiction est le moyen ; l'explication est le livrable.</a:t>
            </a:r>
            <a:r>
              <a:rPr sz="1500">
                <a:solidFill>
                  <a:srgbClr val="1A1A2E"/>
                </a:solidFill>
                <a:latin typeface="Calibri"/>
              </a:rPr>
              <a:t> On entraîne un modèle de gravité pour l'interroger - quels équipements aggravent, à contexte égal - pas pour prédire.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1772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</a:t>
            </a:r>
            <a:r>
              <a:rPr sz="1400" b="1">
                <a:solidFill>
                  <a:srgbClr val="16324F"/>
                </a:solidFill>
                <a:latin typeface="Calibri"/>
              </a:rPr>
              <a:t>OÙ</a:t>
            </a:r>
            <a:r>
              <a:rPr sz="1400">
                <a:solidFill>
                  <a:srgbClr val="1A1A2E"/>
                </a:solidFill>
                <a:latin typeface="Calibri"/>
              </a:rPr>
              <a:t> est une question de concentration -&gt; agrégation, pas de ML supervisé (assumé)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</a:t>
            </a:r>
            <a:r>
              <a:rPr sz="1400" b="1">
                <a:solidFill>
                  <a:srgbClr val="16324F"/>
                </a:solidFill>
                <a:latin typeface="Calibri"/>
              </a:rPr>
              <a:t>QUOI</a:t>
            </a:r>
            <a:r>
              <a:rPr sz="1400">
                <a:solidFill>
                  <a:srgbClr val="1A1A2E"/>
                </a:solidFill>
                <a:latin typeface="Calibri"/>
              </a:rPr>
              <a:t> est une question d'attribution -&gt; c'est là que le ML apporte de la valeur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</a:t>
            </a:r>
            <a:r>
              <a:rPr sz="1400" b="1">
                <a:solidFill>
                  <a:srgbClr val="16324F"/>
                </a:solidFill>
                <a:latin typeface="Calibri"/>
              </a:rPr>
              <a:t>QUAND</a:t>
            </a:r>
            <a:r>
              <a:rPr sz="1400">
                <a:solidFill>
                  <a:srgbClr val="1A1A2E"/>
                </a:solidFill>
                <a:latin typeface="Calibri"/>
              </a:rPr>
              <a:t> est conjoncturel -&gt; visualisé, pas modélisé (pour ne pas diluer le fil rouge)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Architecture de la pipeline</a:t>
            </a:r>
          </a:p>
          <a:p>
            <a:r>
              <a:rPr sz="1200">
                <a:solidFill>
                  <a:srgbClr val="C9D6E3"/>
                </a:solidFill>
                <a:latin typeface="Calibri"/>
              </a:rPr>
              <a:t>Un notebook unique, exécutable de bout en bout sans intervention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881360" cy="2286000"/>
          </a:xfrm>
          <a:prstGeom prst="rect">
            <a:avLst/>
          </a:prstGeom>
          <a:solidFill>
            <a:srgbClr val="F6F8FA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300">
                <a:solidFill>
                  <a:srgbClr val="1A1A2E"/>
                </a:solidFill>
                <a:latin typeface="Consolas"/>
              </a:rPr>
              <a:t>Setup reproductible  -&gt;  Chargement Spark (schéma explicite)  -&gt;  Nettoyage explicite &amp; testé</a:t>
            </a:r>
          </a:p>
          <a:p>
            <a:r>
              <a:rPr sz="1300">
                <a:solidFill>
                  <a:srgbClr val="1A1A2E"/>
                </a:solidFill>
                <a:latin typeface="Consolas"/>
              </a:rPr>
              <a:t>   ├─  A. EDA : volumétrie, biais, sévérité, « QUAND »</a:t>
            </a:r>
          </a:p>
          <a:p>
            <a:r>
              <a:rPr sz="1300">
                <a:solidFill>
                  <a:srgbClr val="1A1A2E"/>
                </a:solidFill>
                <a:latin typeface="Consolas"/>
              </a:rPr>
              <a:t>   ├─  B. OÙ  : grille H3 -&gt; charge pondérée gravité -&gt; exposition OSM (acc/km) + stabilité</a:t>
            </a:r>
          </a:p>
          <a:p>
            <a:r>
              <a:rPr sz="1300">
                <a:solidFill>
                  <a:srgbClr val="1A1A2E"/>
                </a:solidFill>
                <a:latin typeface="Consolas"/>
              </a:rPr>
              <a:t>   ├─  C. QUOI: 5 modèles comparés -&gt; effets ajustés (odds ratios + g-computation) -&gt; leviers</a:t>
            </a:r>
          </a:p>
          <a:p>
            <a:r>
              <a:rPr sz="1300">
                <a:solidFill>
                  <a:srgbClr val="1A1A2E"/>
                </a:solidFill>
                <a:latin typeface="Consolas"/>
              </a:rPr>
              <a:t>   ├─  D. Synthèse décisionnelle : par zone, où + quoi + impact estimé  (CSV + carte)</a:t>
            </a:r>
          </a:p>
          <a:p>
            <a:r>
              <a:rPr sz="1300">
                <a:solidFill>
                  <a:srgbClr val="1A1A2E"/>
                </a:solidFill>
                <a:latin typeface="Consolas"/>
              </a:rPr>
              <a:t>   └─  E. Analyse critique : ce qui marche / pas, limites, décision terrain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</a:t>
            </a:r>
            <a:r>
              <a:rPr sz="1500" b="1">
                <a:solidFill>
                  <a:srgbClr val="16324F"/>
                </a:solidFill>
                <a:latin typeface="Calibri"/>
              </a:rPr>
              <a:t>PySpark</a:t>
            </a:r>
            <a:r>
              <a:rPr sz="1500">
                <a:solidFill>
                  <a:srgbClr val="1A1A2E"/>
                </a:solidFill>
                <a:latin typeface="Calibri"/>
              </a:rPr>
              <a:t> pour les 7,73 M lignes (chargement, nettoyage, agrégations, split) - pandas saturerait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</a:t>
            </a:r>
            <a:r>
              <a:rPr sz="1500" b="1">
                <a:solidFill>
                  <a:srgbClr val="16324F"/>
                </a:solidFill>
                <a:latin typeface="Calibri"/>
              </a:rPr>
              <a:t>scikit-learn sur échantillon maîtrisé</a:t>
            </a:r>
            <a:r>
              <a:rPr sz="1500">
                <a:solidFill>
                  <a:srgbClr val="1A1A2E"/>
                </a:solidFill>
                <a:latin typeface="Calibri"/>
              </a:rPr>
              <a:t> (800 k, plafond documenté) pour la comparaison de modèles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</a:t>
            </a:r>
            <a:r>
              <a:rPr sz="1500" b="1">
                <a:solidFill>
                  <a:srgbClr val="16324F"/>
                </a:solidFill>
                <a:latin typeface="Calibri"/>
              </a:rPr>
              <a:t>Reproductible</a:t>
            </a:r>
            <a:r>
              <a:rPr sz="1500">
                <a:solidFill>
                  <a:srgbClr val="1A1A2E"/>
                </a:solidFill>
                <a:latin typeface="Calibri"/>
              </a:rPr>
              <a:t> : données auto-téléchargées, seeds fixés, versions figées, tests, 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OÙ - le risque est très concentré</a:t>
            </a:r>
          </a:p>
          <a:p>
            <a:r>
              <a:rPr sz="1200">
                <a:solidFill>
                  <a:srgbClr val="C9D6E3"/>
                </a:solidFill>
                <a:latin typeface="Calibri"/>
              </a:rPr>
              <a:t>Californie (démonstration) : 1,74 M accidents -&gt; 58 857 zones H3 de ~0,7 km²</a:t>
            </a:r>
          </a:p>
        </p:txBody>
      </p:sp>
      <p:pic>
        <p:nvPicPr>
          <p:cNvPr id="3" name="Picture 2" descr="08_b_où_rénover_en_priorité_scoring_géospatial_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7589520" cy="26232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82880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</a:t>
            </a:r>
            <a:r>
              <a:rPr sz="1500" b="1">
                <a:solidFill>
                  <a:srgbClr val="16324F"/>
                </a:solidFill>
                <a:latin typeface="Calibri"/>
              </a:rPr>
              <a:t>50 zones</a:t>
            </a:r>
            <a:r>
              <a:rPr sz="1500">
                <a:solidFill>
                  <a:srgbClr val="1A1A2E"/>
                </a:solidFill>
                <a:latin typeface="Calibri"/>
              </a:rPr>
              <a:t> (0,08 %) portent </a:t>
            </a:r>
            <a:r>
              <a:rPr sz="1500" b="1">
                <a:solidFill>
                  <a:srgbClr val="16324F"/>
                </a:solidFill>
                <a:latin typeface="Calibri"/>
              </a:rPr>
              <a:t>5,3 %</a:t>
            </a:r>
            <a:r>
              <a:rPr sz="1500">
                <a:solidFill>
                  <a:srgbClr val="1A1A2E"/>
                </a:solidFill>
                <a:latin typeface="Calibri"/>
              </a:rPr>
              <a:t> de la charge totale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soit </a:t>
            </a:r>
            <a:r>
              <a:rPr sz="1500" b="1">
                <a:solidFill>
                  <a:srgbClr val="16324F"/>
                </a:solidFill>
                <a:latin typeface="Calibri"/>
              </a:rPr>
              <a:t>×62</a:t>
            </a:r>
            <a:r>
              <a:rPr sz="1500">
                <a:solidFill>
                  <a:srgbClr val="1A1A2E"/>
                </a:solidFill>
                <a:latin typeface="Calibri"/>
              </a:rPr>
              <a:t> leur « part équitable »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Rénover quelques carrefours a un effet de levier disproportionné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4846320"/>
            <a:ext cx="3383280" cy="1188720"/>
          </a:xfrm>
          <a:prstGeom prst="rect">
            <a:avLst/>
          </a:prstGeom>
          <a:solidFill>
            <a:srgbClr val="EEF3F8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300">
                <a:solidFill>
                  <a:srgbClr val="1A1A2E"/>
                </a:solidFill>
                <a:latin typeface="Calibri"/>
              </a:rPr>
              <a:t>On ne saupoudre pas le budget : on concentre les travaux là où la charge s'accumule.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OÙ - deux validations qui rendent le classement défendable</a:t>
            </a:r>
          </a:p>
        </p:txBody>
      </p:sp>
      <p:pic>
        <p:nvPicPr>
          <p:cNvPr id="3" name="Picture 2" descr="09_b2_validation_les_points_noirs_sont-ils_sta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1264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F6B"/>
                </a:solidFill>
                <a:latin typeface="Calibri"/>
              </a:rPr>
              <a:t>Score par zone : 2016-2019 vs 2020-2023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146304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</a:t>
            </a:r>
            <a:r>
              <a:rPr sz="1500" b="1">
                <a:solidFill>
                  <a:srgbClr val="16324F"/>
                </a:solidFill>
                <a:latin typeface="Calibri"/>
              </a:rPr>
              <a:t>1. Stabilité temporelle</a:t>
            </a:r>
            <a:r>
              <a:rPr sz="1500">
                <a:solidFill>
                  <a:srgbClr val="1A1A2E"/>
                </a:solidFill>
                <a:latin typeface="Calibri"/>
              </a:rPr>
              <a:t> - les points noirs sont-ils du bruit ?</a:t>
            </a:r>
          </a:p>
          <a:p>
            <a:pPr lvl="1">
              <a:spcAft>
                <a:spcPts val="9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– corrélation de rang </a:t>
            </a:r>
            <a:r>
              <a:rPr sz="1300" b="1">
                <a:solidFill>
                  <a:srgbClr val="16324F"/>
                </a:solidFill>
                <a:latin typeface="Calibri"/>
              </a:rPr>
              <a:t>Spearman ρ = 0,776</a:t>
            </a:r>
            <a:r>
              <a:rPr sz="1300">
                <a:solidFill>
                  <a:srgbClr val="1A1A2E"/>
                </a:solidFill>
                <a:latin typeface="Calibri"/>
              </a:rPr>
              <a:t> entre les deux périodes</a:t>
            </a:r>
          </a:p>
          <a:p>
            <a:pPr lvl="1">
              <a:spcAft>
                <a:spcPts val="9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– les </a:t>
            </a:r>
            <a:r>
              <a:rPr sz="1300" b="1">
                <a:solidFill>
                  <a:srgbClr val="16324F"/>
                </a:solidFill>
                <a:latin typeface="Calibri"/>
              </a:rPr>
              <a:t>50 zones prioritaires restent toutes dans le top 5 %</a:t>
            </a:r>
            <a:r>
              <a:rPr sz="1300">
                <a:solidFill>
                  <a:srgbClr val="1A1A2E"/>
                </a:solidFill>
                <a:latin typeface="Calibri"/>
              </a:rPr>
              <a:t> -&gt; risque structurel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</a:t>
            </a:r>
            <a:r>
              <a:rPr sz="1500" b="1">
                <a:solidFill>
                  <a:srgbClr val="16324F"/>
                </a:solidFill>
                <a:latin typeface="Calibri"/>
              </a:rPr>
              <a:t>2. Exposition routière (OSM)</a:t>
            </a:r>
            <a:r>
              <a:rPr sz="1500">
                <a:solidFill>
                  <a:srgbClr val="1A1A2E"/>
                </a:solidFill>
                <a:latin typeface="Calibri"/>
              </a:rPr>
              <a:t> - dangereux, ou juste fréquenté ?</a:t>
            </a:r>
          </a:p>
          <a:p>
            <a:pPr lvl="1">
              <a:spcAft>
                <a:spcPts val="9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– longueur de voirie par zone -&gt; </a:t>
            </a:r>
            <a:r>
              <a:rPr sz="1300" b="1">
                <a:solidFill>
                  <a:srgbClr val="16324F"/>
                </a:solidFill>
                <a:latin typeface="Calibri"/>
              </a:rPr>
              <a:t>accidents/km</a:t>
            </a:r>
            <a:r>
              <a:rPr sz="1300">
                <a:solidFill>
                  <a:srgbClr val="1A1A2E"/>
                </a:solidFill>
                <a:latin typeface="Calibri"/>
              </a:rPr>
              <a:t> -&gt; re-classement</a:t>
            </a:r>
          </a:p>
          <a:p>
            <a:pPr lvl="1">
              <a:spcAft>
                <a:spcPts val="9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– une zone gagne </a:t>
            </a:r>
            <a:r>
              <a:rPr sz="1300" b="1">
                <a:solidFill>
                  <a:srgbClr val="16324F"/>
                </a:solidFill>
                <a:latin typeface="Calibri"/>
              </a:rPr>
              <a:t>+11 rangs</a:t>
            </a:r>
            <a:r>
              <a:rPr sz="1300">
                <a:solidFill>
                  <a:srgbClr val="1A1A2E"/>
                </a:solidFill>
                <a:latin typeface="Calibri"/>
              </a:rPr>
              <a:t> une fois normalisée : point noir concentré masqué par le volume</a:t>
            </a:r>
          </a:p>
          <a:p>
            <a:pPr lvl="1">
              <a:spcAft>
                <a:spcPts val="9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– couverture : 42/50 zones (API Overpass limitée - cache local livré, dégradation documentée)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QUOI - une comparaison honnête de 5 modèles</a:t>
            </a:r>
          </a:p>
          <a:p>
            <a:r>
              <a:rPr sz="1200">
                <a:solidFill>
                  <a:srgbClr val="C9D6E3"/>
                </a:solidFill>
                <a:latin typeface="Calibri"/>
              </a:rPr>
              <a:t>Split temporel : train &lt; 2022, test 2022-2023 - on prédit l'avenir avec le passé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69494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0898"/>
                <a:gridCol w="1231546"/>
                <a:gridCol w="1231546"/>
                <a:gridCol w="1495449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 marT="38100" marB="381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marT="38100" marB="381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T="38100" marB="381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Rappel « grave »</a:t>
                      </a:r>
                    </a:p>
                  </a:txBody>
                  <a:tcPr marT="38100" marB="38100">
                    <a:solidFill>
                      <a:srgbClr val="1632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Dummy (plancher)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0,064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0,500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Régression logistique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0,110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0,635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0,63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Arbre de décision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0,079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0,560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0,68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0,115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0,646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0,63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6324F"/>
                          </a:solidFill>
                          <a:latin typeface="Calibri"/>
                        </a:rPr>
                        <a:t>HistGradientBoosting</a:t>
                      </a:r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 ✓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6324F"/>
                          </a:solidFill>
                          <a:latin typeface="Calibri"/>
                        </a:rPr>
                        <a:t>0,125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6324F"/>
                          </a:solidFill>
                          <a:latin typeface="Calibri"/>
                        </a:rPr>
                        <a:t>0,676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0,57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55448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</a:t>
            </a:r>
            <a:r>
              <a:rPr sz="1350" b="1">
                <a:solidFill>
                  <a:srgbClr val="16324F"/>
                </a:solidFill>
                <a:latin typeface="Calibri"/>
              </a:rPr>
              <a:t>Pas d'accuracy</a:t>
            </a:r>
            <a:r>
              <a:rPr sz="1350">
                <a:solidFill>
                  <a:srgbClr val="1A1A2E"/>
                </a:solidFill>
                <a:latin typeface="Calibri"/>
              </a:rPr>
              <a:t> : à 80/20, prédire « non-grave » partout = 80 % sans rien apprendre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PR-AUC : la métrique honnête quand la classe positive est rare (19,5 %)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Tous battent le plancher ; le retenu fait </a:t>
            </a:r>
            <a:r>
              <a:rPr sz="1350" b="1">
                <a:solidFill>
                  <a:srgbClr val="16324F"/>
                </a:solidFill>
                <a:latin typeface="Calibri"/>
              </a:rPr>
              <a:t>×2 vs plancher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Déséquilibre géré par </a:t>
            </a:r>
            <a:r>
              <a:rPr sz="1350" b="1">
                <a:solidFill>
                  <a:srgbClr val="16324F"/>
                </a:solidFill>
                <a:latin typeface="Calibri"/>
              </a:rPr>
              <a:t>class_weight</a:t>
            </a:r>
            <a:r>
              <a:rPr sz="1350">
                <a:solidFill>
                  <a:srgbClr val="1A1A2E"/>
                </a:solidFill>
                <a:latin typeface="Calibri"/>
              </a:rPr>
              <a:t> (pas de données fabriquées)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solidFill>
            <a:srgbClr val="EEF3F8"/>
          </a:solidFill>
          <a:ln w="1270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400">
                <a:solidFill>
                  <a:srgbClr val="1A1A2E"/>
                </a:solidFill>
                <a:latin typeface="Calibri"/>
              </a:rPr>
              <a:t>Le modèle a appris un </a:t>
            </a:r>
            <a:r>
              <a:rPr sz="1400" b="1">
                <a:solidFill>
                  <a:srgbClr val="16324F"/>
                </a:solidFill>
                <a:latin typeface="Calibri"/>
              </a:rPr>
              <a:t>signal réel</a:t>
            </a:r>
            <a:r>
              <a:rPr sz="1400">
                <a:solidFill>
                  <a:srgbClr val="1A1A2E"/>
                </a:solidFill>
                <a:latin typeface="Calibri"/>
              </a:rPr>
              <a:t> - c'est tout ce qu'on lui demande : il sert de moteur de preuve, pas d'oracle.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QUOI - les effets ajustés : la réponse claire</a:t>
            </a:r>
          </a:p>
          <a:p>
            <a:r>
              <a:rPr sz="1200">
                <a:solidFill>
                  <a:srgbClr val="C9D6E3"/>
                </a:solidFill>
                <a:latin typeface="Calibri"/>
              </a:rPr>
              <a:t>Deux lectures indépendantes, une même question : effet net de chaque équipement, à contexte égal ?</a:t>
            </a:r>
          </a:p>
        </p:txBody>
      </p:sp>
      <p:pic>
        <p:nvPicPr>
          <p:cNvPr id="3" name="Picture 2" descr="11_c3_effets_ajustés_la_réponse_à_quoi_aggrave_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3040"/>
            <a:ext cx="5760720" cy="3110081"/>
          </a:xfrm>
          <a:prstGeom prst="rect">
            <a:avLst/>
          </a:prstGeom>
        </p:spPr>
      </p:pic>
      <p:pic>
        <p:nvPicPr>
          <p:cNvPr id="4" name="Picture 3" descr="12_c3_effets_ajustés_la_réponse_à_quoi_aggrave_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63040"/>
            <a:ext cx="5486400" cy="30557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61772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</a:t>
            </a:r>
            <a:r>
              <a:rPr sz="1400" b="1">
                <a:solidFill>
                  <a:srgbClr val="16324F"/>
                </a:solidFill>
                <a:latin typeface="Calibri"/>
              </a:rPr>
              <a:t>Odds ratios (IC 95 %)</a:t>
            </a:r>
            <a:r>
              <a:rPr sz="1400">
                <a:solidFill>
                  <a:srgbClr val="1A1A2E"/>
                </a:solidFill>
                <a:latin typeface="Calibri"/>
              </a:rPr>
              <a:t> : passage piéton </a:t>
            </a:r>
            <a:r>
              <a:rPr sz="1400" b="1">
                <a:solidFill>
                  <a:srgbClr val="16324F"/>
                </a:solidFill>
                <a:latin typeface="Calibri"/>
              </a:rPr>
              <a:t>0,41</a:t>
            </a:r>
            <a:r>
              <a:rPr sz="1400">
                <a:solidFill>
                  <a:srgbClr val="1A1A2E"/>
                </a:solidFill>
                <a:latin typeface="Calibri"/>
              </a:rPr>
              <a:t> , stop </a:t>
            </a:r>
            <a:r>
              <a:rPr sz="1400" b="1">
                <a:solidFill>
                  <a:srgbClr val="16324F"/>
                </a:solidFill>
                <a:latin typeface="Calibri"/>
              </a:rPr>
              <a:t>0,27</a:t>
            </a:r>
            <a:r>
              <a:rPr sz="1400">
                <a:solidFill>
                  <a:srgbClr val="1A1A2E"/>
                </a:solidFill>
                <a:latin typeface="Calibri"/>
              </a:rPr>
              <a:t> , feux </a:t>
            </a:r>
            <a:r>
              <a:rPr sz="1400" b="1">
                <a:solidFill>
                  <a:srgbClr val="16324F"/>
                </a:solidFill>
                <a:latin typeface="Calibri"/>
              </a:rPr>
              <a:t>0,39</a:t>
            </a:r>
            <a:r>
              <a:rPr sz="1400">
                <a:solidFill>
                  <a:srgbClr val="1A1A2E"/>
                </a:solidFill>
                <a:latin typeface="Calibri"/>
              </a:rPr>
              <a:t> -&gt; protecteurs ; carrefour 1,2 , voie ferrée 1,7 -&gt; aggravants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</a:t>
            </a:r>
            <a:r>
              <a:rPr sz="1400" b="1">
                <a:solidFill>
                  <a:srgbClr val="16324F"/>
                </a:solidFill>
                <a:latin typeface="Calibri"/>
              </a:rPr>
              <a:t>G-computation</a:t>
            </a:r>
            <a:r>
              <a:rPr sz="1400">
                <a:solidFill>
                  <a:srgbClr val="1A1A2E"/>
                </a:solidFill>
                <a:latin typeface="Calibri"/>
              </a:rPr>
              <a:t> (modèle retenu) : on « allume/éteint » l'équipement à contexte constant -&gt; passage piéton </a:t>
            </a:r>
            <a:r>
              <a:rPr sz="1400" b="1">
                <a:solidFill>
                  <a:srgbClr val="16324F"/>
                </a:solidFill>
                <a:latin typeface="Calibri"/>
              </a:rPr>
              <a:t>−20 pts</a:t>
            </a:r>
            <a:r>
              <a:rPr sz="1400">
                <a:solidFill>
                  <a:srgbClr val="1A1A2E"/>
                </a:solidFill>
                <a:latin typeface="Calibri"/>
              </a:rPr>
              <a:t>, stop </a:t>
            </a:r>
            <a:r>
              <a:rPr sz="1400" b="1">
                <a:solidFill>
                  <a:srgbClr val="16324F"/>
                </a:solidFill>
                <a:latin typeface="Calibri"/>
              </a:rPr>
              <a:t>−19 pts</a:t>
            </a:r>
            <a:r>
              <a:rPr sz="1400">
                <a:solidFill>
                  <a:srgbClr val="1A1A2E"/>
                </a:solidFill>
                <a:latin typeface="Calibri"/>
              </a:rPr>
              <a:t> de probabilité de gravité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</a:t>
            </a:r>
            <a:r>
              <a:rPr sz="1400" b="1">
                <a:solidFill>
                  <a:srgbClr val="16324F"/>
                </a:solidFill>
                <a:latin typeface="Calibri"/>
              </a:rPr>
              <a:t>Concordance des deux lectures : 10/12 équipements</a:t>
            </a:r>
            <a:r>
              <a:rPr sz="1400">
                <a:solidFill>
                  <a:srgbClr val="1A1A2E"/>
                </a:solidFill>
                <a:latin typeface="Calibri"/>
              </a:rPr>
              <a:t> -&gt; diagnostic robuste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QUOI - de l'explication à la prescription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1965960"/>
          </a:xfrm>
          <a:prstGeom prst="rect">
            <a:avLst/>
          </a:prstGeom>
          <a:solidFill>
            <a:srgbClr val="F6F8FA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350">
                <a:solidFill>
                  <a:srgbClr val="1A1A2E"/>
                </a:solidFill>
                <a:latin typeface="Consolas"/>
              </a:rPr>
              <a:t>pour chaque zone prioritaire :</a:t>
            </a:r>
          </a:p>
          <a:p>
            <a:r>
              <a:rPr sz="1350">
                <a:solidFill>
                  <a:srgbClr val="1A1A2E"/>
                </a:solidFill>
                <a:latin typeface="Consolas"/>
              </a:rPr>
              <a:t>   aléa local dominant (lift)              ex. « carrefour » sur-représenté ×2,3</a:t>
            </a:r>
          </a:p>
          <a:p>
            <a:r>
              <a:rPr sz="1350">
                <a:solidFill>
                  <a:srgbClr val="1A1A2E"/>
                </a:solidFill>
                <a:latin typeface="Consolas"/>
              </a:rPr>
              <a:t>   × mesure protectrice MANQUANTE          ex. pas de stop dans la zone</a:t>
            </a:r>
          </a:p>
          <a:p>
            <a:r>
              <a:rPr sz="1350">
                <a:solidFill>
                  <a:srgbClr val="1A1A2E"/>
                </a:solidFill>
                <a:latin typeface="Consolas"/>
              </a:rPr>
              <a:t>   × effet ajusté conditionnel du modèle   Δ_adj(stop | carrefour) = −19,9 pts</a:t>
            </a:r>
          </a:p>
          <a:p>
            <a:r>
              <a:rPr sz="1350">
                <a:solidFill>
                  <a:srgbClr val="1A1A2E"/>
                </a:solidFill>
                <a:latin typeface="Consolas"/>
              </a:rPr>
              <a:t>   -&gt; recommandation + impact estimé = |Δ_adj| × volume  =  accidents GRAVES évités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10698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Exemple réel : zone </a:t>
            </a:r>
            <a:r>
              <a:rPr sz="1500" b="1">
                <a:solidFill>
                  <a:srgbClr val="16324F"/>
                </a:solidFill>
                <a:latin typeface="Calibri"/>
              </a:rPr>
              <a:t>#2</a:t>
            </a:r>
            <a:r>
              <a:rPr sz="1500">
                <a:solidFill>
                  <a:srgbClr val="1A1A2E"/>
                </a:solidFill>
                <a:latin typeface="Calibri"/>
              </a:rPr>
              <a:t> (2 543 accidents, aléa carrefour) -&gt; « stop / cédez-le-passage », </a:t>
            </a:r>
            <a:r>
              <a:rPr sz="1500" b="1">
                <a:solidFill>
                  <a:srgbClr val="16324F"/>
                </a:solidFill>
                <a:latin typeface="Calibri"/>
              </a:rPr>
              <a:t>≈ 505 graves évités</a:t>
            </a:r>
            <a:r>
              <a:rPr sz="1500">
                <a:solidFill>
                  <a:srgbClr val="1A1A2E"/>
                </a:solidFill>
                <a:latin typeface="Calibri"/>
              </a:rPr>
              <a:t> (ex-ante)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</a:t>
            </a:r>
            <a:r>
              <a:rPr sz="1500" b="1">
                <a:solidFill>
                  <a:srgbClr val="16324F"/>
                </a:solidFill>
                <a:latin typeface="Calibri"/>
              </a:rPr>
              <a:t>6 types</a:t>
            </a:r>
            <a:r>
              <a:rPr sz="1500">
                <a:solidFill>
                  <a:srgbClr val="1A1A2E"/>
                </a:solidFill>
                <a:latin typeface="Calibri"/>
              </a:rPr>
              <a:t> de recommandations sur les 50 zones - l'effet conditionnel évite le « même aménagement partout 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13 zones sans levier infra dominant -&gt; « </a:t>
            </a:r>
            <a:r>
              <a:rPr sz="1500" b="1">
                <a:solidFill>
                  <a:srgbClr val="16324F"/>
                </a:solidFill>
                <a:latin typeface="Calibri"/>
              </a:rPr>
              <a:t>investiguer facteur humain</a:t>
            </a:r>
            <a:r>
              <a:rPr sz="1500">
                <a:solidFill>
                  <a:srgbClr val="1A1A2E"/>
                </a:solidFill>
                <a:latin typeface="Calibri"/>
              </a:rPr>
              <a:t> » (affiché honnêtement, pas masqué)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Contre-vérification systématique : effet ajusté (modèle) &lt;-&gt; effet brut (données)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QUAND - les contre-intuitifs qui font gagner du budget</a:t>
            </a:r>
          </a:p>
          <a:p>
            <a:r>
              <a:rPr sz="1200">
                <a:solidFill>
                  <a:srgbClr val="C9D6E3"/>
                </a:solidFill>
                <a:latin typeface="Calibri"/>
              </a:rPr>
              <a:t>Risque conjoncturel ≠ risque structurel</a:t>
            </a:r>
          </a:p>
        </p:txBody>
      </p:sp>
      <p:pic>
        <p:nvPicPr>
          <p:cNvPr id="3" name="Picture 2" descr="06_a3_quand_patterns_temporels_météo_pour_les_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5394960" cy="2728755"/>
          </a:xfrm>
          <a:prstGeom prst="rect">
            <a:avLst/>
          </a:prstGeom>
        </p:spPr>
      </p:pic>
      <p:pic>
        <p:nvPicPr>
          <p:cNvPr id="4" name="Picture 3" descr="07_a4_quand_jours_fériés_grands_événe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63040"/>
            <a:ext cx="5577840" cy="28293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</a:t>
            </a:r>
            <a:r>
              <a:rPr sz="1400" b="1">
                <a:solidFill>
                  <a:srgbClr val="16324F"/>
                </a:solidFill>
                <a:latin typeface="Calibri"/>
              </a:rPr>
              <a:t>Le brouillard</a:t>
            </a:r>
            <a:r>
              <a:rPr sz="1400">
                <a:solidFill>
                  <a:srgbClr val="1A1A2E"/>
                </a:solidFill>
                <a:latin typeface="Calibri"/>
              </a:rPr>
              <a:t> affiche la part d'accidents graves </a:t>
            </a:r>
            <a:r>
              <a:rPr sz="1400" b="1">
                <a:solidFill>
                  <a:srgbClr val="16324F"/>
                </a:solidFill>
                <a:latin typeface="Calibri"/>
              </a:rPr>
              <a:t>la plus basse</a:t>
            </a:r>
            <a:r>
              <a:rPr sz="1400">
                <a:solidFill>
                  <a:srgbClr val="1A1A2E"/>
                </a:solidFill>
                <a:latin typeface="Calibri"/>
              </a:rPr>
              <a:t> (16 %, comme le temps clair) ; pluie/couvert ~22-23 %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</a:t>
            </a:r>
            <a:r>
              <a:rPr sz="1400" b="1">
                <a:solidFill>
                  <a:srgbClr val="16324F"/>
                </a:solidFill>
                <a:latin typeface="Calibri"/>
              </a:rPr>
              <a:t>Les fêtes ne s'emballent pas</a:t>
            </a:r>
            <a:r>
              <a:rPr sz="1400">
                <a:solidFill>
                  <a:srgbClr val="1A1A2E"/>
                </a:solidFill>
                <a:latin typeface="Calibri"/>
              </a:rPr>
              <a:t> : Noël = 15,5 % de graves vs 19,5 % en période normale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-&gt; météo &amp; calendrier = </a:t>
            </a:r>
            <a:r>
              <a:rPr sz="1400" b="1">
                <a:solidFill>
                  <a:srgbClr val="16324F"/>
                </a:solidFill>
                <a:latin typeface="Calibri"/>
              </a:rPr>
              <a:t>mesures dynamiques</a:t>
            </a:r>
            <a:r>
              <a:rPr sz="1400">
                <a:solidFill>
                  <a:srgbClr val="1A1A2E"/>
                </a:solidFill>
                <a:latin typeface="Calibri"/>
              </a:rPr>
              <a:t> (panneaux à messages variables), pas du béton : le budget rénovation reste sur le structurel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Le livrable décisionnel - ce que le DOT ouvre lundi matin</a:t>
            </a:r>
          </a:p>
        </p:txBody>
      </p:sp>
      <p:pic>
        <p:nvPicPr>
          <p:cNvPr id="3" name="Picture 2" descr="00_carte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5852160" cy="418011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29400" y="1554480"/>
          <a:ext cx="51206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792480"/>
                <a:gridCol w="853440"/>
                <a:gridCol w="1584960"/>
                <a:gridCol w="13411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T="38100" marB="381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Accidents</a:t>
                      </a:r>
                    </a:p>
                  </a:txBody>
                  <a:tcPr marT="38100" marB="381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Aléa local</a:t>
                      </a:r>
                    </a:p>
                  </a:txBody>
                  <a:tcPr marT="38100" marB="381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Recommandation</a:t>
                      </a:r>
                    </a:p>
                  </a:txBody>
                  <a:tcPr marT="38100" marB="381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Impact estimé*</a:t>
                      </a:r>
                    </a:p>
                  </a:txBody>
                  <a:tcPr marT="38100" marB="38100">
                    <a:solidFill>
                      <a:srgbClr val="1632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#2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2 543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carrefour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stop / cédez-le-passage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≈ 505 graves évités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#3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2 431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carrefour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stop / cédez-le-passage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≈ 483</a:t>
                      </a:r>
                    </a:p>
                  </a:txBody>
                  <a:tcPr marT="38100" marB="38100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#8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2 323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carrefour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stop / cédez-le-passage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≈ 461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29400" y="342900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</a:t>
            </a:r>
            <a:r>
              <a:rPr sz="1350" b="1">
                <a:solidFill>
                  <a:srgbClr val="16324F"/>
                </a:solidFill>
                <a:latin typeface="Calibri"/>
              </a:rPr>
              <a:t>zones_prioritaires.csv</a:t>
            </a:r>
            <a:r>
              <a:rPr sz="1350">
                <a:solidFill>
                  <a:srgbClr val="1A1A2E"/>
                </a:solidFill>
                <a:latin typeface="Calibri"/>
              </a:rPr>
              <a:t> : 50 zones triées par impact = ordre d'intervention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</a:t>
            </a:r>
            <a:r>
              <a:rPr sz="1350" b="1">
                <a:solidFill>
                  <a:srgbClr val="16324F"/>
                </a:solidFill>
                <a:latin typeface="Calibri"/>
              </a:rPr>
              <a:t>Carte interactive</a:t>
            </a:r>
            <a:r>
              <a:rPr sz="1350">
                <a:solidFill>
                  <a:srgbClr val="1A1A2E"/>
                </a:solidFill>
                <a:latin typeface="Calibri"/>
              </a:rPr>
              <a:t> : couleur = aménagement, taille = risque par km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Impact cumulé top 50 : </a:t>
            </a:r>
            <a:r>
              <a:rPr sz="1350" b="1">
                <a:solidFill>
                  <a:srgbClr val="16324F"/>
                </a:solidFill>
                <a:latin typeface="Calibri"/>
              </a:rPr>
              <a:t>≈ 6 860 accidents graves</a:t>
            </a:r>
            <a:r>
              <a:rPr sz="1350">
                <a:solidFill>
                  <a:srgbClr val="1A1A2E"/>
                </a:solidFill>
                <a:latin typeface="Calibri"/>
              </a:rPr>
              <a:t> potentiellement évités*</a:t>
            </a:r>
          </a:p>
          <a:p>
            <a:pPr lvl="1">
              <a:spcAft>
                <a:spcPts val="900"/>
              </a:spcAft>
            </a:pPr>
            <a:r>
              <a:rPr sz="1150">
                <a:solidFill>
                  <a:srgbClr val="1A1A2E"/>
                </a:solidFill>
                <a:latin typeface="Calibri"/>
              </a:rPr>
              <a:t>– *ex-ante, associationnel - à valider par visite terrain puis pilote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Limites &amp; recul - ce qu'on ne prétend 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  <a:r>
              <a:rPr sz="1600" b="1">
                <a:solidFill>
                  <a:srgbClr val="16324F"/>
                </a:solidFill>
                <a:latin typeface="Calibri"/>
              </a:rPr>
              <a:t>Pas de causalité</a:t>
            </a:r>
            <a:r>
              <a:rPr sz="1600">
                <a:solidFill>
                  <a:srgbClr val="1A1A2E"/>
                </a:solidFill>
                <a:latin typeface="Calibri"/>
              </a:rPr>
              <a:t> : aucune donnée avant/après installation -&gt; signaux de priorisation, pas preuves d'efficacité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  <a:r>
              <a:rPr sz="1600" b="1">
                <a:solidFill>
                  <a:srgbClr val="16324F"/>
                </a:solidFill>
                <a:latin typeface="Calibri"/>
              </a:rPr>
              <a:t>Biais de reporting</a:t>
            </a:r>
            <a:r>
              <a:rPr sz="1600">
                <a:solidFill>
                  <a:srgbClr val="1A1A2E"/>
                </a:solidFill>
                <a:latin typeface="Calibri"/>
              </a:rPr>
              <a:t> : couverture inégale - fiable sur les territoires à fort volume seulement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Pas de profil conducteur (vitesse, alcool) , `severity` = seul proxy du coût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  <a:r>
              <a:rPr sz="1600" b="1">
                <a:solidFill>
                  <a:srgbClr val="16324F"/>
                </a:solidFill>
                <a:latin typeface="Calibri"/>
              </a:rPr>
              <a:t>Exposition OSM partielle</a:t>
            </a:r>
            <a:r>
              <a:rPr sz="1600">
                <a:solidFill>
                  <a:srgbClr val="1A1A2E"/>
                </a:solidFill>
                <a:latin typeface="Calibri"/>
              </a:rPr>
              <a:t> (42/50) : API Overpass limitée - cache livré, dégradation propre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297680"/>
            <a:ext cx="10881360" cy="1051560"/>
          </a:xfrm>
          <a:prstGeom prst="rect">
            <a:avLst/>
          </a:prstGeom>
          <a:solidFill>
            <a:srgbClr val="EEF3F8"/>
          </a:solidFill>
          <a:ln w="12700">
            <a:solidFill>
              <a:srgbClr val="1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500" b="1">
                <a:solidFill>
                  <a:srgbClr val="1E7D4F"/>
                </a:solidFill>
                <a:latin typeface="Calibri"/>
              </a:rPr>
              <a:t>Mesurer l'impact réel (proposition)</a:t>
            </a:r>
            <a:r>
              <a:rPr sz="1500">
                <a:solidFill>
                  <a:srgbClr val="1A1A2E"/>
                </a:solidFill>
                <a:latin typeface="Calibri"/>
              </a:rPr>
              <a:t> : pilote sur 5-10 zones + </a:t>
            </a:r>
            <a:r>
              <a:rPr sz="1500" b="1">
                <a:solidFill>
                  <a:srgbClr val="1E7D4F"/>
                </a:solidFill>
                <a:latin typeface="Calibri"/>
              </a:rPr>
              <a:t>différence de différences</a:t>
            </a:r>
            <a:r>
              <a:rPr sz="1500">
                <a:solidFill>
                  <a:srgbClr val="1A1A2E"/>
                </a:solidFill>
                <a:latin typeface="Calibri"/>
              </a:rPr>
              <a:t> (zones traitées vs témoins, avant/après) - KPI : coût par accident grave évité.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Conclusion - la valeur créée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A1A2E"/>
                </a:solidFill>
                <a:latin typeface="Calibri"/>
              </a:rPr>
              <a:t>On transforme un budget limité en </a:t>
            </a:r>
            <a:r>
              <a:rPr sz="2200" b="1">
                <a:solidFill>
                  <a:srgbClr val="C0392B"/>
                </a:solidFill>
                <a:latin typeface="Calibri"/>
              </a:rPr>
              <a:t>liste d'interventions priorisée, justifiée et explicable</a:t>
            </a:r>
            <a:r>
              <a:rPr sz="2200">
                <a:solidFill>
                  <a:srgbClr val="1A1A2E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</a:t>
            </a:r>
            <a:r>
              <a:rPr sz="1700" b="1">
                <a:solidFill>
                  <a:srgbClr val="16324F"/>
                </a:solidFill>
                <a:latin typeface="Calibri"/>
              </a:rPr>
              <a:t>OÙ</a:t>
            </a:r>
            <a:r>
              <a:rPr sz="1700">
                <a:solidFill>
                  <a:srgbClr val="1A1A2E"/>
                </a:solidFill>
                <a:latin typeface="Calibri"/>
              </a:rPr>
              <a:t> : 50 zones validées - concentration ×62, stabilité ρ = 0,78, exposition contrôlée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</a:t>
            </a:r>
            <a:r>
              <a:rPr sz="1700" b="1">
                <a:solidFill>
                  <a:srgbClr val="16324F"/>
                </a:solidFill>
                <a:latin typeface="Calibri"/>
              </a:rPr>
              <a:t>QUOI</a:t>
            </a:r>
            <a:r>
              <a:rPr sz="1700">
                <a:solidFill>
                  <a:srgbClr val="1A1A2E"/>
                </a:solidFill>
                <a:latin typeface="Calibri"/>
              </a:rPr>
              <a:t> : l'aménagement adapté à chaque zone + impact en accidents graves évités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</a:t>
            </a:r>
            <a:r>
              <a:rPr sz="1700" b="1">
                <a:solidFill>
                  <a:srgbClr val="16324F"/>
                </a:solidFill>
                <a:latin typeface="Calibri"/>
              </a:rPr>
              <a:t>QUAND</a:t>
            </a:r>
            <a:r>
              <a:rPr sz="1700">
                <a:solidFill>
                  <a:srgbClr val="1A1A2E"/>
                </a:solidFill>
                <a:latin typeface="Calibri"/>
              </a:rPr>
              <a:t> : mesures dynamiques vs travaux - bien séparés, budget préservé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</a:t>
            </a:r>
            <a:r>
              <a:rPr sz="1700" b="1">
                <a:solidFill>
                  <a:srgbClr val="16324F"/>
                </a:solidFill>
                <a:latin typeface="Calibri"/>
              </a:rPr>
              <a:t>Fiable</a:t>
            </a:r>
            <a:r>
              <a:rPr sz="1700">
                <a:solidFill>
                  <a:srgbClr val="1A1A2E"/>
                </a:solidFill>
                <a:latin typeface="Calibri"/>
              </a:rPr>
              <a:t> : Run All sans intervention, tests (notebook + pytest), versions figées,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532120"/>
            <a:ext cx="10881360" cy="777240"/>
          </a:xfrm>
          <a:prstGeom prst="rect">
            <a:avLst/>
          </a:prstGeom>
          <a:solidFill>
            <a:srgbClr val="EEF3F8"/>
          </a:solidFill>
          <a:ln w="12700">
            <a:solidFill>
              <a:srgbClr val="1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500">
                <a:solidFill>
                  <a:srgbClr val="1A1A2E"/>
                </a:solidFill>
                <a:latin typeface="Calibri"/>
              </a:rPr>
              <a:t>Prochaine étape : un </a:t>
            </a:r>
            <a:r>
              <a:rPr sz="1500" b="1">
                <a:solidFill>
                  <a:srgbClr val="1E7D4F"/>
                </a:solidFill>
                <a:latin typeface="Calibri"/>
              </a:rPr>
              <a:t>pilote terrain</a:t>
            </a:r>
            <a:r>
              <a:rPr sz="1500">
                <a:solidFill>
                  <a:srgbClr val="1A1A2E"/>
                </a:solidFill>
                <a:latin typeface="Calibri"/>
              </a:rPr>
              <a:t> sur 5-10 zones pour transformer les associations en effets mesurés.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  <a:latin typeface="Calibri"/>
              </a:rPr>
              <a:t>Annexes - Q&amp;A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Annexe A - Nettoyage &amp; prétraitement (explicite, justifié)</a:t>
            </a:r>
          </a:p>
        </p:txBody>
      </p:sp>
      <p:pic>
        <p:nvPicPr>
          <p:cNvPr id="3" name="Picture 2" descr="01_a0_valeurs_manquantes_quoi_nettoyer_et_pourq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035040" cy="3322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12280" y="164592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`end_lat/lng` (44 % NA) -&gt; </a:t>
            </a:r>
            <a:r>
              <a:rPr sz="1350" b="1">
                <a:solidFill>
                  <a:srgbClr val="16324F"/>
                </a:solidFill>
                <a:latin typeface="Calibri"/>
              </a:rPr>
              <a:t>abandonnées</a:t>
            </a:r>
            <a:r>
              <a:rPr sz="1350">
                <a:solidFill>
                  <a:srgbClr val="1A1A2E"/>
                </a:solidFill>
                <a:latin typeface="Calibri"/>
              </a:rPr>
              <a:t> ; `wind_chill` -&gt; supprimée (redondante)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Météo : imputation médiane , texte libre regroupé en 6 familles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Booléens d'infra NA -&gt; </a:t>
            </a:r>
            <a:r>
              <a:rPr sz="1350" b="1">
                <a:solidFill>
                  <a:srgbClr val="16324F"/>
                </a:solidFill>
                <a:latin typeface="Calibri"/>
              </a:rPr>
              <a:t>absent</a:t>
            </a:r>
            <a:r>
              <a:rPr sz="1350">
                <a:solidFill>
                  <a:srgbClr val="1A1A2E"/>
                </a:solidFill>
                <a:latin typeface="Calibri"/>
              </a:rPr>
              <a:t> , sévérité binarisée (classe 2 = 80 %)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</a:t>
            </a:r>
            <a:r>
              <a:rPr sz="1350" b="1">
                <a:solidFill>
                  <a:srgbClr val="16324F"/>
                </a:solidFill>
                <a:latin typeface="Calibri"/>
              </a:rPr>
              <a:t>Tests d'intégrité bloquants</a:t>
            </a:r>
            <a:r>
              <a:rPr sz="1350">
                <a:solidFill>
                  <a:srgbClr val="1A1A2E"/>
                </a:solidFill>
                <a:latin typeface="Calibri"/>
              </a:rPr>
              <a:t> après nettoyage (6 assertions)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Annexe B - Le signal descriptif brut (avant modèle)</a:t>
            </a:r>
          </a:p>
        </p:txBody>
      </p:sp>
      <p:pic>
        <p:nvPicPr>
          <p:cNvPr id="3" name="Picture 2" descr="04_a2bis_sévérité_selon_linfrastructure_quels_é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400800" cy="3569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78040" y="173736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Sévérité moyenne </a:t>
            </a:r>
            <a:r>
              <a:rPr sz="1350" b="1">
                <a:solidFill>
                  <a:srgbClr val="16324F"/>
                </a:solidFill>
                <a:latin typeface="Calibri"/>
              </a:rPr>
              <a:t>avec/sans</a:t>
            </a:r>
            <a:r>
              <a:rPr sz="1350">
                <a:solidFill>
                  <a:srgbClr val="1A1A2E"/>
                </a:solidFill>
                <a:latin typeface="Calibri"/>
              </a:rPr>
              <a:t> chaque élément (US entier)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Lecture brute piégée : les équipements « marquent » les lieux denses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-&gt; c'est pourquoi la preuve finale utilise les </a:t>
            </a:r>
            <a:r>
              <a:rPr sz="1350" b="1">
                <a:solidFill>
                  <a:srgbClr val="16324F"/>
                </a:solidFill>
                <a:latin typeface="Calibri"/>
              </a:rPr>
              <a:t>effets ajustés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Annexe C - Analyse des erreurs du modèle</a:t>
            </a:r>
          </a:p>
        </p:txBody>
      </p:sp>
      <p:pic>
        <p:nvPicPr>
          <p:cNvPr id="3" name="Picture 2" descr="10_c2bis_analyse_des_erreurs_matrice_de_confus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7863840" cy="3359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18288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Faux négatifs = </a:t>
            </a:r>
            <a:r>
              <a:rPr sz="1300" b="1">
                <a:solidFill>
                  <a:srgbClr val="16324F"/>
                </a:solidFill>
                <a:latin typeface="Calibri"/>
              </a:rPr>
              <a:t>points noirs ratés</a:t>
            </a:r>
            <a:r>
              <a:rPr sz="1300">
                <a:solidFill>
                  <a:srgbClr val="1A1A2E"/>
                </a:solidFill>
                <a:latin typeface="Calibri"/>
              </a:rPr>
              <a:t> (44 % au seuil 0,5)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Courbes PR vs plancher : l'arbitrage seuil &lt;-&gt; fausses alertes est explicite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74320" wrap="square"/>
          <a:lstStyle/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Annexe D - Robustesse : SHAP &amp; convergence entre approches</a:t>
            </a:r>
          </a:p>
        </p:txBody>
      </p:sp>
      <p:pic>
        <p:nvPicPr>
          <p:cNvPr id="3" name="Picture 2" descr="13_c4_robustesse_shap_et_convergence_entre_app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5760720" cy="2843899"/>
          </a:xfrm>
          <a:prstGeom prst="rect">
            <a:avLst/>
          </a:prstGeom>
        </p:spPr>
      </p:pic>
      <p:pic>
        <p:nvPicPr>
          <p:cNvPr id="4" name="Picture 3" descr="14_c4_robustesse_shap_et_convergence_entre_app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63040"/>
            <a:ext cx="5303520" cy="43039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25780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• Logistique, arbre, forêt et SHAP classent les leviers dans le </a:t>
            </a:r>
            <a:r>
              <a:rPr sz="1250" b="1">
                <a:solidFill>
                  <a:srgbClr val="16324F"/>
                </a:solidFill>
                <a:latin typeface="Calibri"/>
              </a:rPr>
              <a:t>même ordre</a:t>
            </a:r>
            <a:r>
              <a:rPr sz="1250">
                <a:solidFill>
                  <a:srgbClr val="1A1A2E"/>
                </a:solidFill>
                <a:latin typeface="Calibri"/>
              </a:rPr>
              <a:t> (corrélations de rang élevées)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• Entrées : 12 booléens d'infra (leviers) + contrôles météo/temps/géo - </a:t>
            </a:r>
            <a:r>
              <a:rPr sz="1250" b="1">
                <a:solidFill>
                  <a:srgbClr val="16324F"/>
                </a:solidFill>
                <a:latin typeface="Calibri"/>
              </a:rPr>
              <a:t>anti-fuite testé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