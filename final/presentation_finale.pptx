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4F0AFD-12B0-4DAF-89D7-3452F503B683}">
  <a:tblStyle styleId="{474F0AFD-12B0-4DAF-89D7-3452F503B6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Accroche : un gestionnaire de voirie a un budget limité et des milliers de carrefours. On lui dit lesquels rénover, quoi y installer, et ce que ça devrait rapporter.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Insister : le choix du rôle rend le projet actionnable, vs analyses génériques (« la pluie est dangereuse ») qui n'aident aucun décideur.</a:t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Montrer qu'on connaît les limites AVANT de montrer des résultats : crédibilité. Biais de reporting = collecte via API trafic MapQuest/Bing.</a:t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slide méthodo. Question attendue : « pourquoi un prédicteur si vous ne prédisez pas ? » → 1) tâche évaluable, 2) contrôle des confondants, 3) la convergence entre méthodes devient une preuve.</a:t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Mentionner les tests : assertions bloquantes dans le notebook (intégrité + anti-fuite) + suite pytest sur le livrable + Docker.</a:t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Charge = somme des sévérités = volume pondéré gravité. 100 accidents légers ≠ 100 graves. H3 : cellules équi-surface, rés. 8 = échelle d'un carrefour.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 attendue « pourquoi H3 ? » : cellules équi-surface (comptage = densité comparable), voisinage hexagonal régulier, rés. 8 ≈ carrefour.</a:t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Performance modeste ASSUMÉE : la gravité dépend de facteurs absents (vitesse réelle, alcool). Notre critère de succès = fiabilité de l'explication, pas la perf brute — c'est mot pour mot dans le sujet. Pourquoi pas SMOTE : class_weight, on ne fabrique pas de données.</a:t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clé : une moyenne brute « avec/sans feux » dirait l'INVERSE (les feux sont là où c'est dense). Les effets ajustés renversent la lecture — c'est LA démonstration de l'utilité du modèle. SHAP en annexe : requête d'intervention (g-comp) ≠ requête d'attribution (SHAP).</a:t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 attendue « c'est causal ? » : NON — associations ajustées. L'impact est ex-ante, il sert à PRIORISER. Mesure réelle = pilote + différence de différences (slide 13).</a:t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Hypothèse brouillard : conduite plus prudente — on le dit comme hypothèse, pas comme fait. La valeur différenciante = contredire le common knowledge avec des données.</a:t>
            </a:r>
            <a:endParaRPr/>
          </a:p>
        </p:txBody>
      </p:sp>
      <p:sp>
        <p:nvSpPr>
          <p:cNvPr id="176" name="Google Shape;17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C'est ici que la valeur devient palpable : une ligne du CSV = une décision de travaux argumentée. La carte : couleur = aménagement recommandé, taille = risque réel par km.</a:t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Annoncer les limites nous-mêmes = crédibilité. La grille valorise explicitement « deuils énoncés ». Diff-in-diff : zones traitées vs témoins comparables, avant/après travaux.</a:t>
            </a:r>
            <a:endParaRPr/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Finir sur « que fait le DOT lundi matin » et ouvrir sur le pilote terrain.</a:t>
            </a:r>
            <a:endParaRPr/>
          </a:p>
        </p:txBody>
      </p:sp>
      <p:sp>
        <p:nvSpPr>
          <p:cNvPr id="202" name="Google Shape;20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 delta brut est TROMPEUR (confondants) — c'est exactement ce que les effets ajustés corrigent. Bon exemple pédagogique si question.</a:t>
            </a:r>
            <a:endParaRPr/>
          </a:p>
        </p:txBody>
      </p:sp>
      <p:sp>
        <p:nvSpPr>
          <p:cNvPr id="224" name="Google Shape;22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seuil 0,5 : 44 % des graves ratés. Abaisser le seuil ↑ rappel au prix de fausses alertes — arbitrage documenté par la courbe PR.</a:t>
            </a:r>
            <a:endParaRPr/>
          </a:p>
        </p:txBody>
      </p:sp>
      <p:sp>
        <p:nvSpPr>
          <p:cNvPr id="232" name="Google Shape;23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SHAP = requête d'attribution (corrélations du réel), g-computation = requête d'intervention. Les signes peuvent différer — documenté dans le notebook.</a:t>
            </a:r>
            <a:endParaRPr/>
          </a:p>
        </p:txBody>
      </p:sp>
      <p:sp>
        <p:nvSpPr>
          <p:cNvPr id="240" name="Google Shape;24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63655" y="1480875"/>
            <a:ext cx="6583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Réduire les accidents par la </a:t>
            </a:r>
            <a:r>
              <a:rPr b="1" i="0" lang="en-US" sz="36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rénovation d'infrastructure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d'aide à la décision pour une agence de voirie (DOT)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Données US Accidents — 7,73 M accidents · 2016-2023 · 49 États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3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SAÉ DataValueXploring — juillet 2026</a:t>
            </a:r>
            <a:endParaRPr/>
          </a:p>
        </p:txBody>
      </p:sp>
      <p:pic>
        <p:nvPicPr>
          <p:cNvPr descr="00_carte_screenshot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7450" y="1051549"/>
            <a:ext cx="4811149" cy="343654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7452360" y="41605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F6B"/>
                </a:solidFill>
                <a:latin typeface="Calibri"/>
                <a:ea typeface="Calibri"/>
                <a:cs typeface="Calibri"/>
                <a:sym typeface="Calibri"/>
              </a:rPr>
              <a:t>50 zones prioritaires — Californie (démo)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40080" y="512064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1F42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7,73 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accidents analysés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3429000" y="512064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1F42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×62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concentration du risque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217920" y="512064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1F42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ρ = 0,78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stabilité temporelle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9006839" y="5120640"/>
            <a:ext cx="2514600" cy="1051560"/>
          </a:xfrm>
          <a:prstGeom prst="roundRect">
            <a:avLst>
              <a:gd fmla="val 16667" name="adj"/>
            </a:avLst>
          </a:prstGeom>
          <a:solidFill>
            <a:srgbClr val="1F42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6 860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graves évitables (est.)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problème métier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Rôle incarné : agence de voirie / DOT d'une collectivité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40080" y="128016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« Comment réduire durablement les accidents sur notre réseau, avec un </a:t>
            </a:r>
            <a:r>
              <a:rPr b="1" lang="en-US" sz="2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budget de travaux limité</a:t>
            </a: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? »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40075" y="2796748"/>
            <a:ext cx="10962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Aujourd'hui : priorisation </a:t>
            </a:r>
            <a:r>
              <a:rPr b="1" lang="en-US" sz="20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réactive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remontées terrain, accidents médiatisés, arbitrages politiques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Notre apport : une priorisation </a:t>
            </a:r>
            <a:r>
              <a:rPr b="1" lang="en-US" sz="20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data-driven, explicable et défendable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Périmètre d'action du rôle : </a:t>
            </a:r>
            <a:r>
              <a:rPr b="1" lang="en-US" sz="20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l'infrastructure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(feux, passages piétons, stops, modération de trafic)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457200" lvl="1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on n'agit ni sur la météo, ni sur le comportement des conducteurs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40080" y="5669280"/>
            <a:ext cx="10881360" cy="77724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64575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 donnée crée de la valeur quand elle répond à une décision :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où investir le prochain euro de travaux ?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données — et leurs pièges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US Accidents (Kaggle) · Feb 2016 → Mar 2023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40075" y="1325877"/>
            <a:ext cx="51279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5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7 728 394 accidents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46 colonnes, 49 États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Collecte via API trafic → </a:t>
            </a:r>
            <a:r>
              <a:rPr b="1" lang="en-US" sz="15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biais de reporting assumé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peu de lignes ≠ peu d'accidents</a:t>
            </a:r>
            <a:endParaRPr/>
          </a:p>
        </p:txBody>
      </p:sp>
      <p:pic>
        <p:nvPicPr>
          <p:cNvPr descr="02_a1_couverture_biais_peut-on_faire_confiance_à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625" y="2946974"/>
            <a:ext cx="8785974" cy="34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673838" y="6411625"/>
            <a:ext cx="2844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F6B"/>
                </a:solidFill>
                <a:latin typeface="Calibri"/>
                <a:ea typeface="Calibri"/>
                <a:cs typeface="Calibri"/>
                <a:sym typeface="Calibri"/>
              </a:rPr>
              <a:t>Couverture très inégale : top 15 États par volume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277975" y="1325875"/>
            <a:ext cx="56991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Top 3 États ≈ </a:t>
            </a:r>
            <a:r>
              <a:rPr b="1" lang="en-US" sz="15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41 %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du volume (CA, FL, TX)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Conséquence méthodologique : on ne compare </a:t>
            </a:r>
            <a:r>
              <a:rPr b="1" lang="en-US" sz="15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jamais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les États entre eux,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on raisonne à l'intérieur d'un territoire (analyse paramétrée par une variable STATE)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cadrage : 3 questions, 3 natures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Pas de modèle « par habitude », la méthode suit la nature de la question</a:t>
            </a:r>
            <a:endParaRPr/>
          </a:p>
        </p:txBody>
      </p:sp>
      <p:graphicFrame>
        <p:nvGraphicFramePr>
          <p:cNvPr id="118" name="Google Shape;118;p16"/>
          <p:cNvGraphicFramePr/>
          <p:nvPr/>
        </p:nvGraphicFramePr>
        <p:xfrm>
          <a:off x="64008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{474F0AFD-12B0-4DAF-89D7-3452F503B683}</a:tableStyleId>
              </a:tblPr>
              <a:tblGrid>
                <a:gridCol w="3108950"/>
                <a:gridCol w="3291850"/>
                <a:gridCol w="4480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Question métier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Nature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Méthode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OÙ rénover en priorité ?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concentration → descriptif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agrégation H3 + exposition OSM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QUOI installer sur place ?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attribution → ML (moteur de preuve)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modèle de gravité → effets ajustés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QUAND agir temporairement ?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conjoncturel → descriptif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patterns temporels / météo</a:t>
                      </a:r>
                      <a:endParaRPr sz="1500"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6"/>
          <p:cNvSpPr/>
          <p:nvPr/>
        </p:nvSpPr>
        <p:spPr>
          <a:xfrm>
            <a:off x="640080" y="3429000"/>
            <a:ext cx="10881360" cy="91440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64575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La prédiction est le moyen ; l'explication est le livrable.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On entraîne un modèle de gravité pour l'interroger, pas pour prédire.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31457" y="4994145"/>
            <a:ext cx="106986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OÙ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est une question de concentration → agrégation, pas de ML supervisé (assumé)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QUOI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est une question d'attribution → c'est là que le ML apporte de la valeur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QUAND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est conjoncturel → visualisé, pas modélisé (pour ne pas diluer le fil rouge)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de la pipeline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Un notebook unique, exécutable de bout en bout sans intervention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40080" y="1371600"/>
            <a:ext cx="10881360" cy="2286000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Setup reproductible  →  Chargement Spark (schéma explicite)  →  Nettoyage explicite &amp; testé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├─  A. EDA : volumétrie, biais, sévérité, « QUAND 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├─  B. OÙ  : grille H3 → charge pondérée gravité → exposition OSM (acc/km) + stabilité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├─  C. QUOI: 5 modèles comparés → effets ajustés (odds ratios + g-computation) → leviers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├─  D. Synthèse décisionnelle : par zone, où + quoi + impact estimé  (CSV + carte)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└─  E. Analyse critique : ce qui marche / pas, limites, décision terrain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746532" y="4575495"/>
            <a:ext cx="106986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PySpark</a:t>
            </a: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pour les 7,73 M lignes (chargement, nettoyage, agrégations, split) — pandas saturerait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scikit-learn sur échantillon maîtrisé</a:t>
            </a: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(800 k, plafond documenté) pour la comparaison de modèles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Reproductible</a:t>
            </a: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données auto-téléchargées, seeds fixés, versions figées, tests, Docker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OÙ — le risque est très concentré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Californie (démonstration) : 1,74 M accidents → 58 857 zones H3 de ~0,7 km²</a:t>
            </a:r>
            <a:endParaRPr/>
          </a:p>
        </p:txBody>
      </p:sp>
      <p:pic>
        <p:nvPicPr>
          <p:cNvPr descr="08_b_où_rénover_en_priorité_scoring_géospatial_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752" y="1150048"/>
            <a:ext cx="10012199" cy="346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774031" y="4907025"/>
            <a:ext cx="5418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50 zones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(0,08 %) portent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5,3 %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de la charge totale</a:t>
            </a:r>
            <a:endParaRPr sz="15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soit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×62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leur « part équitable »</a:t>
            </a:r>
            <a:endParaRPr sz="15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Rénover quelques carrefours a un effet de levier disproportionné</a:t>
            </a:r>
            <a:endParaRPr sz="1500"/>
          </a:p>
        </p:txBody>
      </p:sp>
      <p:sp>
        <p:nvSpPr>
          <p:cNvPr id="137" name="Google Shape;137;p18"/>
          <p:cNvSpPr/>
          <p:nvPr/>
        </p:nvSpPr>
        <p:spPr>
          <a:xfrm>
            <a:off x="8272465" y="5103695"/>
            <a:ext cx="3383400" cy="118860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64575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 ne saupoudre pas le budget : on concentre les travaux là où la charge s'accumule.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OÙ — deux validations qui rendent le classement défendable</a:t>
            </a:r>
            <a:endParaRPr/>
          </a:p>
        </p:txBody>
      </p:sp>
      <p:pic>
        <p:nvPicPr>
          <p:cNvPr descr="09_b2_validation_les_points_noirs_sont-ils_stabl.pn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47548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502920" y="61264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555F6B"/>
                </a:solidFill>
                <a:latin typeface="Calibri"/>
                <a:ea typeface="Calibri"/>
                <a:cs typeface="Calibri"/>
                <a:sym typeface="Calibri"/>
              </a:rPr>
              <a:t>Score par zone : 2016-2019 vs 2020-2023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5626415" y="1851290"/>
            <a:ext cx="61266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1. Stabilité temporelle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les points noirs sont-ils du bruit ?</a:t>
            </a:r>
            <a:endParaRPr sz="1600"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corrélation de rang </a:t>
            </a:r>
            <a:r>
              <a:rPr b="1" i="0" lang="en-US" sz="15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Spearman ρ = 0,776</a:t>
            </a: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entre les deux périodes</a:t>
            </a:r>
            <a:endParaRPr sz="1600"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les </a:t>
            </a:r>
            <a:r>
              <a:rPr b="1" i="0" lang="en-US" sz="15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50 zones prioritaires restent toutes dans le top 5 %</a:t>
            </a: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→ risque structurel</a:t>
            </a:r>
            <a:endParaRPr sz="16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2. Exposition routière (OSM)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dangereux, ou juste fréquenté ?</a:t>
            </a:r>
            <a:endParaRPr sz="1600"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longueur de voirie par zone → </a:t>
            </a:r>
            <a:r>
              <a:rPr b="1" i="0" lang="en-US" sz="15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accidents/km</a:t>
            </a: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→ re-classement</a:t>
            </a:r>
            <a:endParaRPr sz="1600"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une zone gagne </a:t>
            </a:r>
            <a:r>
              <a:rPr b="1" i="0" lang="en-US" sz="1500" u="none" cap="none" strike="noStrike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+11 rangs</a:t>
            </a: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une fois normalisée : point noir concentré masqué par le volume</a:t>
            </a:r>
            <a:endParaRPr sz="1600"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couverture : 42/50 zones (API Overpass limitée — cache local livré, dégradation documentée)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QUOI — une comparaison honnête de 5 modèles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Split temporel : train &lt; 2022, test 2022-2023 — on prédit l'avenir avec le passé</a:t>
            </a:r>
            <a:endParaRPr/>
          </a:p>
        </p:txBody>
      </p:sp>
      <p:graphicFrame>
        <p:nvGraphicFramePr>
          <p:cNvPr id="153" name="Google Shape;153;p20"/>
          <p:cNvGraphicFramePr/>
          <p:nvPr/>
        </p:nvGraphicFramePr>
        <p:xfrm>
          <a:off x="360780" y="2331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{474F0AFD-12B0-4DAF-89D7-3452F503B683}</a:tableStyleId>
              </a:tblPr>
              <a:tblGrid>
                <a:gridCol w="2990900"/>
                <a:gridCol w="1231550"/>
                <a:gridCol w="1231550"/>
                <a:gridCol w="14954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Modèle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PR-AUC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Rappel « grave »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 (plancher)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0,064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0,500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Régression logistique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0,110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0,635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0,63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Arbre de décision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0,079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0,560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0,68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0,115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0,646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0,63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632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HistGradientBoosting</a:t>
                      </a: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✓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632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0,125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6324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0,676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0,57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20"/>
          <p:cNvSpPr txBox="1"/>
          <p:nvPr/>
        </p:nvSpPr>
        <p:spPr>
          <a:xfrm>
            <a:off x="7839575" y="2331752"/>
            <a:ext cx="39318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Pas d'accuracy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à 80/20, prédire « non-grave » partout = 80 % sans rien apprendre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PR-AUC : la métrique honnête quand la classe positive est rare (19,5 %)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Tous battent le plancher ; le retenu fait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×2 vs plancher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Déséquilibre géré par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class_weight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(pas de données fabriquées)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64575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 modèle a appris un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signal réel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— c'est tout ce qu'on lui demande : il sert de moteur de preuve, pas d'oracle.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QUOI — les effets ajustés : la réponse claire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Deux lectures indépendantes, une même question : effet net de chaque équipement, à contexte égal ?</a:t>
            </a:r>
            <a:endParaRPr/>
          </a:p>
        </p:txBody>
      </p:sp>
      <p:pic>
        <p:nvPicPr>
          <p:cNvPr descr="11_c3_effets_ajustés_la_réponse_à_quoi_aggrave_q.png"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63040"/>
            <a:ext cx="5760720" cy="311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2_c3_effets_ajustés_la_réponse_à_quoi_aggrave_q.png" id="163" name="Google Shape;1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1463040"/>
            <a:ext cx="5486400" cy="305571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640080" y="4617720"/>
            <a:ext cx="10881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Odds ratios (IC 95 %)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passage piéton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0,41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· stop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0,27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· feux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0,39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→ protecteurs ; carrefour 1,2 · voie ferrée 1,7 → aggravants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G-computation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(modèle retenu) : on « allume/éteint » l'équipement à contexte constant → passage piéton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−20 pts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16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stop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−19 pts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de probabilité de gravité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6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Concordance des deux lectures : 10/12 équipements</a:t>
            </a:r>
            <a:r>
              <a:rPr lang="en-US" sz="1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→ diagnostic robuste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QUOI — de l'explication à la prescription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640080" y="1325880"/>
            <a:ext cx="10881360" cy="1965960"/>
          </a:xfrm>
          <a:prstGeom prst="rect">
            <a:avLst/>
          </a:prstGeom>
          <a:solidFill>
            <a:srgbClr val="F6F8FA"/>
          </a:solidFill>
          <a:ln cap="flat" cmpd="sng" w="9525">
            <a:solidFill>
              <a:srgbClr val="1632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pour chaque zone prioritaire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aléa local dominant (lift)              ex. « carrefour » sur-représenté ×2,3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× mesure protectrice MANQUANTE          ex. pas de stop dans la zone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× effet ajusté conditionnel du modèle   Δ_adj(stop | carrefour) = −19,9 pts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→ recommandation + impact estimé = |Δ_adj| × volume  =  accidents GRAVES évités</a:t>
            </a:r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731457" y="4170480"/>
            <a:ext cx="10698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Exemple réel : zone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#2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(2 543 accidents, aléa carrefour) → « stop / cédez-le-passage »,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≈ 505 graves évités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(ex-ante)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6 types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de recommandations sur les 50 zones — l'effet conditionnel évite le « même aménagement partout »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13 zones sans levier infra dominant → «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investiguer facteur humain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» (affiché honnêtement, pas masqué)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Contre-vérification systématique : effet ajusté (modèle) ↔ effet brut (données)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 — les contre-intuitifs qui font gagner du budget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Risque conjoncturel ≠ risque structurel</a:t>
            </a:r>
            <a:endParaRPr/>
          </a:p>
        </p:txBody>
      </p:sp>
      <p:pic>
        <p:nvPicPr>
          <p:cNvPr descr="06_a3_quand_patterns_temporels_météo_pour_les_me.png" id="179" name="Google Shape;1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63040"/>
            <a:ext cx="5394960" cy="27287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7_a4_quand_jours_fériés_grands_événements.png" id="180" name="Google Shape;1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463040"/>
            <a:ext cx="5577840" cy="282933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640080" y="4572000"/>
            <a:ext cx="108813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Le brouillard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affiche la part d'accidents graves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la plus basse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(16 %, comme le temps clair) ; pluie/couvert ~22-23 %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Les fêtes ne s'emballent pas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Noël = 15,5 % de graves vs 19,5 % en période normale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→ météo &amp; calendrier =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mesures dynamiques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(panneaux à messages variables), pas du béton : le budget rénovation reste sur le structurel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livrable décisionnel — ce que le DOT ouvre lundi matin</a:t>
            </a:r>
            <a:endParaRPr/>
          </a:p>
        </p:txBody>
      </p:sp>
      <p:pic>
        <p:nvPicPr>
          <p:cNvPr descr="00_carte_screenshot.png"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5852160" cy="41801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4"/>
          <p:cNvGraphicFramePr/>
          <p:nvPr/>
        </p:nvGraphicFramePr>
        <p:xfrm>
          <a:off x="662940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{474F0AFD-12B0-4DAF-89D7-3452F503B683}</a:tableStyleId>
              </a:tblPr>
              <a:tblGrid>
                <a:gridCol w="548650"/>
                <a:gridCol w="792475"/>
                <a:gridCol w="853450"/>
                <a:gridCol w="1584950"/>
                <a:gridCol w="13411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Zone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Accidents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Aléa local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Recommandation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 estimé*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16324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#2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2 543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carrefour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 / cédez-le-passage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505 graves évités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#3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2 431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carrefour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 / cédez-le-passage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483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3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#8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2 323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carrefour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 / cédez-le-passage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≈ 461</a:t>
                      </a:r>
                      <a:endParaRPr/>
                    </a:p>
                  </a:txBody>
                  <a:tcPr marT="38100" marB="38100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24"/>
          <p:cNvSpPr txBox="1"/>
          <p:nvPr/>
        </p:nvSpPr>
        <p:spPr>
          <a:xfrm>
            <a:off x="6629400" y="3429000"/>
            <a:ext cx="51207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zones_prioritaires.csv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50 zones triées par impact = ordre d'intervention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Carte interactive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couleur = aménagement, taille = risque par km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Impact cumulé top 50 :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≈ 6 860 accidents graves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potentiellement évités*</a:t>
            </a:r>
            <a:endParaRPr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*ex-ante, associationnel — à valider par visite terrain puis pilote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Limites &amp; recul — ce qu'on ne prétend pas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640113" y="1714451"/>
            <a:ext cx="108813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Pas de causalité</a:t>
            </a: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aucune donnée avant/après installation → signaux de priorisation, pas preuves d'efficacité</a:t>
            </a:r>
            <a:endParaRPr sz="16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Biais de reporting</a:t>
            </a: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couverture inégale — fiable sur les territoires à fort volume seulement</a:t>
            </a:r>
            <a:endParaRPr sz="16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Pas de profil conducteur (vitesse, alcool) · `severity` = seul proxy du coût</a:t>
            </a:r>
            <a:endParaRPr sz="1600"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8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Exposition OSM partielle</a:t>
            </a: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(42/50) : API Overpass limitée — cache livré, dégradation propre</a:t>
            </a:r>
            <a:endParaRPr sz="1600"/>
          </a:p>
        </p:txBody>
      </p:sp>
      <p:sp>
        <p:nvSpPr>
          <p:cNvPr id="198" name="Google Shape;198;p25"/>
          <p:cNvSpPr/>
          <p:nvPr/>
        </p:nvSpPr>
        <p:spPr>
          <a:xfrm>
            <a:off x="640080" y="4297680"/>
            <a:ext cx="10881360" cy="105156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1E7D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64575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7D4F"/>
                </a:solidFill>
                <a:latin typeface="Calibri"/>
                <a:ea typeface="Calibri"/>
                <a:cs typeface="Calibri"/>
                <a:sym typeface="Calibri"/>
              </a:rPr>
              <a:t>Mesurer l'impact réel (proposition)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pilote sur 5-10 zones + </a:t>
            </a:r>
            <a:r>
              <a:rPr b="1" lang="en-US" sz="1500">
                <a:solidFill>
                  <a:srgbClr val="1E7D4F"/>
                </a:solidFill>
                <a:latin typeface="Calibri"/>
                <a:ea typeface="Calibri"/>
                <a:cs typeface="Calibri"/>
                <a:sym typeface="Calibri"/>
              </a:rPr>
              <a:t>différence de différences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(zones traitées vs témoins, avant/après) — KPI : coût par accident grave évité.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— la valeur créée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 transforme un budget limité en </a:t>
            </a:r>
            <a:r>
              <a:rPr b="1" lang="en-US" sz="2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liste d'interventions priorisée, justifiée et explicable</a:t>
            </a:r>
            <a:r>
              <a:rPr lang="en-US" sz="22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731520" y="2514600"/>
            <a:ext cx="10698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OÙ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50 zones validées — concentration ×62, stabilité ρ = 0,78, exposition contrôlée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QUOI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l'aménagement adapté à chaque zone + impact en accidents graves évités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QUAND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mesures dynamiques vs travaux — bien séparés, budget préservé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7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Fiable</a:t>
            </a:r>
            <a:r>
              <a:rPr lang="en-US" sz="17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: Run All sans intervention, tests (notebook + pytest), versions figées, Docker</a:t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EEF3F8"/>
          </a:solidFill>
          <a:ln cap="flat" cmpd="sng" w="12700">
            <a:solidFill>
              <a:srgbClr val="1E7D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64575" spcFirstLastPara="1" rIns="137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Prochaine étape : un </a:t>
            </a:r>
            <a:r>
              <a:rPr b="1" lang="en-US" sz="1500">
                <a:solidFill>
                  <a:srgbClr val="1E7D4F"/>
                </a:solidFill>
                <a:latin typeface="Calibri"/>
                <a:ea typeface="Calibri"/>
                <a:cs typeface="Calibri"/>
                <a:sym typeface="Calibri"/>
              </a:rPr>
              <a:t>pilote terrain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sur 5-10 zones pour transformer les associations en effets mesurés.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640080" y="283464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Annexes — Q&amp;A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Annexe A — Nettoyage &amp; prétraitement (explicite, justifié)</a:t>
            </a:r>
            <a:endParaRPr/>
          </a:p>
        </p:txBody>
      </p:sp>
      <p:pic>
        <p:nvPicPr>
          <p:cNvPr descr="01_a0_valeurs_manquantes_quoi_nettoyer_et_pourqu.png" id="219" name="Google Shape;2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6035040" cy="332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 txBox="1"/>
          <p:nvPr/>
        </p:nvSpPr>
        <p:spPr>
          <a:xfrm>
            <a:off x="6812280" y="1645920"/>
            <a:ext cx="4937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‘end_lat/lng’ (44 % NA) →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abandonnées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; `wind_chill` → supprimée (redondante)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Météo : imputation médiane · texte libre regroupé en 6 familles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Booléens d'infra NA →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· sévérité binarisée (classe 2 = 80 %)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Tests d'intégrité bloquants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après nettoyage (6 assertions)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Annexe B — Le signal descriptif brut (avant modèle)</a:t>
            </a:r>
            <a:endParaRPr/>
          </a:p>
        </p:txBody>
      </p:sp>
      <p:pic>
        <p:nvPicPr>
          <p:cNvPr descr="04_a2bis_sévérité_selon_linfrastructure_quels_él.png"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6400800" cy="35695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 txBox="1"/>
          <p:nvPr/>
        </p:nvSpPr>
        <p:spPr>
          <a:xfrm>
            <a:off x="7178040" y="1737360"/>
            <a:ext cx="45720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Sévérité moyenne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avec/sans</a:t>
            </a: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chaque élément (US entier)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Lecture brute piégée : les équipements « marquent » les lieux denses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→ c'est pourquoi la preuve finale utilise les </a:t>
            </a:r>
            <a:r>
              <a:rPr b="1" lang="en-US" sz="13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effets ajustés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Annexe C — Analyse des erreurs du modèle</a:t>
            </a:r>
            <a:endParaRPr/>
          </a:p>
        </p:txBody>
      </p:sp>
      <p:pic>
        <p:nvPicPr>
          <p:cNvPr descr="10_c2bis_analyse_des_erreurs_matrice_de_confusio.png" id="235" name="Google Shape;2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802" y="1225116"/>
            <a:ext cx="10532301" cy="44992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/>
          <p:nvPr/>
        </p:nvSpPr>
        <p:spPr>
          <a:xfrm>
            <a:off x="2963825" y="5845775"/>
            <a:ext cx="89727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Faux négatifs = </a:t>
            </a:r>
            <a:r>
              <a:rPr b="1" lang="en-US" sz="150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points noirs ratés</a:t>
            </a: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(44 % au seuil 0,5)</a:t>
            </a:r>
            <a:endParaRPr sz="16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Courbes PR vs plancher : l'arbitrage seuil ↔ fausses alertes est explicite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324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11475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Annexe D — Robustesse : SHAP &amp; convergence entre approches</a:t>
            </a:r>
            <a:endParaRPr/>
          </a:p>
        </p:txBody>
      </p:sp>
      <p:pic>
        <p:nvPicPr>
          <p:cNvPr descr="13_c4_robustesse_shap_et_convergence_entre_appro.png" id="243" name="Google Shape;2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63040"/>
            <a:ext cx="5760720" cy="2843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4_c4_robustesse_shap_et_convergence_entre_appro.png" id="244" name="Google Shape;24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1463040"/>
            <a:ext cx="5303520" cy="430390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/>
          <p:nvPr/>
        </p:nvSpPr>
        <p:spPr>
          <a:xfrm>
            <a:off x="594375" y="4687075"/>
            <a:ext cx="55779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Logistique, arbre, forêt et SHAP classent les leviers dans le </a:t>
            </a:r>
            <a:r>
              <a:rPr b="1" lang="en-US" sz="16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même ordre</a:t>
            </a:r>
            <a:r>
              <a:rPr lang="en-US" sz="16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(corrélations de rang élevées)</a:t>
            </a:r>
            <a:endParaRPr sz="18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Entrées : 12 booléens d'infra (leviers) + contrôles météo/temps/géo — </a:t>
            </a:r>
            <a:r>
              <a:rPr b="1" lang="en-US" sz="1650">
                <a:solidFill>
                  <a:srgbClr val="16324F"/>
                </a:solidFill>
                <a:latin typeface="Calibri"/>
                <a:ea typeface="Calibri"/>
                <a:cs typeface="Calibri"/>
                <a:sym typeface="Calibri"/>
              </a:rPr>
              <a:t>anti-fuite testé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